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85D9B7-846A-1403-5074-91D622FDDE7A}" v="68" dt="2026-05-27T23:52:59.560"/>
    <p1510:client id="{2A5A7997-1091-159A-71C2-9EB55D22834B}" v="101" dt="2026-05-28T00:16:27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798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356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382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26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384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64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13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75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053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440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055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Neural Network Components and Data Flow</a:t>
            </a:r>
            <a:endParaRPr lang="en-US" sz="4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1200">
                <a:ea typeface="+mn-lt"/>
                <a:cs typeface="+mn-lt"/>
              </a:rPr>
              <a:t>Understanding layers, neurons, weights, activation functions, loss functions, and optimization algorithms</a:t>
            </a:r>
          </a:p>
          <a:p>
            <a:r>
              <a:rPr lang="en-US" sz="1200"/>
              <a:t>:BY – LAXMI LAHARI NAIDU BUGATA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2729F-C1A9-FDFE-E005-AB1E19E4F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65222" cy="657935"/>
          </a:xfrm>
        </p:spPr>
        <p:txBody>
          <a:bodyPr>
            <a:noAutofit/>
          </a:bodyPr>
          <a:lstStyle/>
          <a:p>
            <a:pPr algn="ctr"/>
            <a:r>
              <a:rPr lang="en-US" sz="4000">
                <a:ea typeface="+mj-lt"/>
                <a:cs typeface="+mj-lt"/>
              </a:rPr>
              <a:t>Neural network flowchart</a:t>
            </a:r>
            <a:endParaRPr lang="en-US" sz="4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F5875-EA75-BF6B-90C0-590A4A47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46A5-1985-437F-AE7E-433A409DA5AB}" type="datetime1"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9374E-80A0-A06C-7DA8-55B40716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59BF3-9351-F1A6-0B9D-CA6CC762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2</a:t>
            </a:fld>
            <a:endParaRPr lang="en-US" dirty="0"/>
          </a:p>
        </p:txBody>
      </p:sp>
      <p:pic>
        <p:nvPicPr>
          <p:cNvPr id="10" name="Content Placeholder 9" descr="A computer screen shot of a computer network&#10;&#10;AI-generated content may be incorrect.">
            <a:extLst>
              <a:ext uri="{FF2B5EF4-FFF2-40B4-BE49-F238E27FC236}">
                <a16:creationId xmlns:a16="http://schemas.microsoft.com/office/drawing/2014/main" id="{68B6EB07-0460-657E-1E08-729CF31F6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7964" y="1588025"/>
            <a:ext cx="10252496" cy="448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35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745B6-B5C4-8F22-E9E9-341586F1F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14804"/>
            <a:ext cx="10265222" cy="1760402"/>
          </a:xfrm>
        </p:spPr>
        <p:txBody>
          <a:bodyPr/>
          <a:lstStyle/>
          <a:p>
            <a:pPr algn="ctr"/>
            <a:r>
              <a:rPr lang="en-US" sz="4000" dirty="0"/>
              <a:t>Neural </a:t>
            </a:r>
            <a:r>
              <a:rPr lang="en-US" sz="4000"/>
              <a:t>network flowchart</a:t>
            </a:r>
            <a:endParaRPr lang="en-US" sz="4000" b="0" dirty="0" err="1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636F4-651C-8E6F-BCFE-38C0C66A1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 fontScale="85000" lnSpcReduction="10000"/>
          </a:bodyPr>
          <a:lstStyle/>
          <a:p>
            <a:r>
              <a:rPr lang="en-US" sz="2400" b="1">
                <a:ea typeface="+mn-lt"/>
                <a:cs typeface="+mn-lt"/>
              </a:rPr>
              <a:t>Input Layer:</a:t>
            </a:r>
            <a:r>
              <a:rPr lang="en-US" sz="2400">
                <a:ea typeface="+mn-lt"/>
                <a:cs typeface="+mn-lt"/>
              </a:rPr>
              <a:t> Receives the original features or data values.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Neurons:</a:t>
            </a:r>
            <a:r>
              <a:rPr lang="en-US" sz="2400">
                <a:ea typeface="+mn-lt"/>
                <a:cs typeface="+mn-lt"/>
              </a:rPr>
              <a:t> Small processing units that combine inputs and produce outputs.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Weights:</a:t>
            </a:r>
            <a:r>
              <a:rPr lang="en-US" sz="2400">
                <a:ea typeface="+mn-lt"/>
                <a:cs typeface="+mn-lt"/>
              </a:rPr>
              <a:t> Values that control how strongly signals move between neurons.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Hidden Layers:</a:t>
            </a:r>
            <a:r>
              <a:rPr lang="en-US" sz="2400">
                <a:ea typeface="+mn-lt"/>
                <a:cs typeface="+mn-lt"/>
              </a:rPr>
              <a:t> Transform input data into useful internal patterns.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Activation Function:</a:t>
            </a:r>
            <a:r>
              <a:rPr lang="en-US" sz="2400">
                <a:ea typeface="+mn-lt"/>
                <a:cs typeface="+mn-lt"/>
              </a:rPr>
              <a:t> Adds nonlinearity so the network can learn complex relationships.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Output Layer:</a:t>
            </a:r>
            <a:r>
              <a:rPr lang="en-US" sz="2400">
                <a:ea typeface="+mn-lt"/>
                <a:cs typeface="+mn-lt"/>
              </a:rPr>
              <a:t> Produces the final prediction or classification result.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Loss Function:</a:t>
            </a:r>
            <a:r>
              <a:rPr lang="en-US" sz="2400">
                <a:ea typeface="+mn-lt"/>
                <a:cs typeface="+mn-lt"/>
              </a:rPr>
              <a:t> Measures how far the prediction is from the correct answer.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Optimization:</a:t>
            </a:r>
            <a:r>
              <a:rPr lang="en-US" sz="2400">
                <a:ea typeface="+mn-lt"/>
                <a:cs typeface="+mn-lt"/>
              </a:rPr>
              <a:t> Updates weights to reduce loss during training.</a:t>
            </a:r>
            <a:br>
              <a:rPr lang="en-US" dirty="0"/>
            </a:br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76C5B-E154-A03B-F5ED-45A5CBDCE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554-2AC0-42FC-81BE-63B79BCFAD6A}" type="datetime1"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33830-DC98-4D6A-EBD4-37BCB4241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F56F5-8E73-8914-0754-69B9FC5F4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002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D6239-2493-FDAA-3D5B-BD1E5D031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9009" cy="1217276"/>
          </a:xfrm>
        </p:spPr>
        <p:txBody>
          <a:bodyPr/>
          <a:lstStyle/>
          <a:p>
            <a:pPr algn="ctr"/>
            <a:r>
              <a:rPr lang="en-US" sz="4000">
                <a:ea typeface="+mj-lt"/>
                <a:cs typeface="+mj-lt"/>
              </a:rPr>
              <a:t>Layers and neurons</a:t>
            </a:r>
            <a:endParaRPr lang="en-US" sz="400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2291B-E7D8-2D5E-FA86-2448B97A2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2400" b="1">
                <a:ea typeface="+mn-lt"/>
                <a:cs typeface="+mn-lt"/>
              </a:rPr>
              <a:t>Layers</a:t>
            </a:r>
            <a:r>
              <a:rPr lang="en-US" sz="2400">
                <a:ea typeface="+mn-lt"/>
                <a:cs typeface="+mn-lt"/>
              </a:rPr>
              <a:t>: Layers are the stages of a neural network that organize how data moves through the model, usually from an input layer to one or more hidden layers and finally to an output layer.</a:t>
            </a:r>
            <a:endParaRPr lang="en-US" sz="2400" dirty="0"/>
          </a:p>
          <a:p>
            <a:r>
              <a:rPr lang="en-US" sz="2400" b="1">
                <a:ea typeface="+mn-lt"/>
                <a:cs typeface="+mn-lt"/>
              </a:rPr>
              <a:t>Neurons</a:t>
            </a:r>
            <a:r>
              <a:rPr lang="en-US" sz="2400">
                <a:ea typeface="+mn-lt"/>
                <a:cs typeface="+mn-lt"/>
              </a:rPr>
              <a:t>: Neurons are the basic processing units in the network. Each neuron receives inputs, combines them, applies a function, and sends an output forward.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8924A-7C81-32EE-FF78-FFD1F3DC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C2A8B-75EA-4028-950A-BAC2FF6E2D36}" type="datetime1"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5E498-5C18-7FD4-05D8-0E9955D42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9A8CA-048B-C381-45C1-2748B30A3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060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5C6C-AD35-790B-271B-02CF3A83D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12016"/>
            <a:ext cx="10240903" cy="1233488"/>
          </a:xfrm>
        </p:spPr>
        <p:txBody>
          <a:bodyPr vert="horz" lIns="0" tIns="0" rIns="0" bIns="0" rtlCol="0" anchor="b">
            <a:noAutofit/>
          </a:bodyPr>
          <a:lstStyle/>
          <a:p>
            <a:pPr algn="ctr"/>
            <a:r>
              <a:rPr lang="en-US" sz="4000">
                <a:ea typeface="+mj-lt"/>
                <a:cs typeface="+mj-lt"/>
              </a:rPr>
              <a:t>Weights and activation functions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97973-B84C-64AF-E187-48F134E98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2400" b="1" dirty="0">
                <a:ea typeface="+mn-lt"/>
                <a:cs typeface="+mn-lt"/>
              </a:rPr>
              <a:t>Weights</a:t>
            </a:r>
            <a:r>
              <a:rPr lang="en-US" sz="2400" dirty="0">
                <a:ea typeface="+mn-lt"/>
                <a:cs typeface="+mn-lt"/>
              </a:rPr>
              <a:t>: Weights are adjustable values attached to connections between neurons. They control how strongly one input or neuron influences the next stage of the network.</a:t>
            </a:r>
            <a:endParaRPr lang="en-US" sz="2400" dirty="0"/>
          </a:p>
          <a:p>
            <a:r>
              <a:rPr lang="en-US" sz="2400" b="1">
                <a:ea typeface="+mn-lt"/>
                <a:cs typeface="+mn-lt"/>
              </a:rPr>
              <a:t>Activation Functions</a:t>
            </a:r>
            <a:r>
              <a:rPr lang="en-US" sz="2400">
                <a:ea typeface="+mn-lt"/>
                <a:cs typeface="+mn-lt"/>
              </a:rPr>
              <a:t>: Activation functions are mathematical rules applied to a neuron’s weighted input. They introduce nonlinearity, which allows the network to learn complex patterns instead of only simple linear relationships.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985E8-6702-4853-F090-0CA9F887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5EEB-89A7-4923-8DFD-001BEA017BDB}" type="datetime1"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F4435-D532-9C75-6189-64ABD458B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BCE22-37CB-BD39-231C-5D0F66C32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699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F830C-8816-A4BC-A512-D02B888B5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55272"/>
            <a:ext cx="10240903" cy="1233488"/>
          </a:xfrm>
        </p:spPr>
        <p:txBody>
          <a:bodyPr vert="horz" lIns="0" tIns="0" rIns="0" bIns="0" rtlCol="0" anchor="b">
            <a:noAutofit/>
          </a:bodyPr>
          <a:lstStyle/>
          <a:p>
            <a:pPr algn="ctr"/>
            <a:r>
              <a:rPr lang="en-US" sz="4000">
                <a:ea typeface="+mj-lt"/>
                <a:cs typeface="+mj-lt"/>
              </a:rPr>
              <a:t>Loss functions and optimization algorithms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22900-8A53-2E65-6810-6F2D14A38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2400" b="1">
                <a:ea typeface="+mn-lt"/>
                <a:cs typeface="+mn-lt"/>
              </a:rPr>
              <a:t>Loss Functions</a:t>
            </a:r>
            <a:r>
              <a:rPr lang="en-US" sz="2400">
                <a:ea typeface="+mn-lt"/>
                <a:cs typeface="+mn-lt"/>
              </a:rPr>
              <a:t>: Loss functions measure how far the model’s prediction is from the correct answer. Training aims to reduce this loss over time.</a:t>
            </a:r>
            <a:endParaRPr lang="en-US" sz="2400" dirty="0"/>
          </a:p>
          <a:p>
            <a:r>
              <a:rPr lang="en-US" sz="2400" b="1">
                <a:ea typeface="+mn-lt"/>
                <a:cs typeface="+mn-lt"/>
              </a:rPr>
              <a:t>Optimization Algorithms</a:t>
            </a:r>
            <a:r>
              <a:rPr lang="en-US" sz="2400">
                <a:ea typeface="+mn-lt"/>
                <a:cs typeface="+mn-lt"/>
              </a:rPr>
              <a:t>: Optimization algorithms update the weights to reduce the loss. Methods such as gradient descent help the network improve its predictions during training.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22ECB-0D34-3F2D-8DB4-C68750D3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CCA06-A105-45E8-8B82-048648F2AB7E}" type="datetime1"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EDE4D-5213-48D8-9951-948419F16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2EC6F-1E8F-45CC-BC0E-9B8B37962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475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2C4A-8F33-56B9-D74E-A86EB0286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111" y="363441"/>
            <a:ext cx="10240903" cy="1233488"/>
          </a:xfrm>
        </p:spPr>
        <p:txBody>
          <a:bodyPr vert="horz" lIns="0" tIns="0" rIns="0" bIns="0" rtlCol="0" anchor="b">
            <a:noAutofit/>
          </a:bodyPr>
          <a:lstStyle/>
          <a:p>
            <a:pPr algn="ctr"/>
            <a:r>
              <a:rPr lang="en-US" sz="4000">
                <a:ea typeface="+mj-lt"/>
                <a:cs typeface="+mj-lt"/>
              </a:rPr>
              <a:t>TensorFlow Playground example 1: simple model</a:t>
            </a:r>
            <a:endParaRPr lang="en-US" sz="400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DE03A3-823B-416E-E81F-6D81F94B86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5908" y="1831215"/>
            <a:ext cx="9213415" cy="423990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53529-1BA0-E9FC-2629-044AF1BA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2493-49EE-4D72-84CB-6B7117507D97}" type="datetime1"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8CC05-EAF5-A133-A9D7-FC003FE9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07AEB-2DBD-1C7A-B0F5-651383E34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641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8782D-F51B-7B09-E111-E0AA0D68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55" y="347228"/>
            <a:ext cx="10240903" cy="1233488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ea typeface="+mj-lt"/>
                <a:cs typeface="+mj-lt"/>
              </a:rPr>
              <a:t>TensorFlow Playground example 2: medium complexity</a:t>
            </a:r>
            <a:endParaRPr lang="en-US" sz="320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9DCE92-BDF4-0629-2317-2E53DB8CB9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3780" y="1920385"/>
            <a:ext cx="9643054" cy="415073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DDDB-E17F-876E-CEF7-0A47C1887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E7C0-9E5B-493D-94BF-308EF97911D3}" type="datetime1"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99624-EDCB-37CA-C638-6E1D68248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0602A-4EA4-3671-41D7-FA972D07C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518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440D0-171E-30C7-79A3-5FEB26DB8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238" y="1311889"/>
            <a:ext cx="10240903" cy="1233488"/>
          </a:xfrm>
        </p:spPr>
        <p:txBody>
          <a:bodyPr>
            <a:normAutofit fontScale="90000"/>
          </a:bodyPr>
          <a:lstStyle/>
          <a:p>
            <a:endParaRPr lang="en-US" sz="4000" dirty="0"/>
          </a:p>
          <a:p>
            <a:r>
              <a:rPr lang="en-US" sz="4000"/>
              <a:t>TensorFlow Playground example 3: deeper network.</a:t>
            </a:r>
            <a:endParaRPr lang="en-US" sz="4000" dirty="0"/>
          </a:p>
          <a:p>
            <a:br>
              <a:rPr lang="en-US" dirty="0"/>
            </a:br>
            <a:endParaRPr lang="en-US" sz="4000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7993D5-6459-438F-F2BF-56E7C173C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9226" y="1928492"/>
            <a:ext cx="9383650" cy="414262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8F503-A894-C201-5BB2-295D9077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601E9-50F5-430D-B8FA-634466AFD194}" type="datetime1"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36AED-57DF-C9AB-2D58-457D81F66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DCAFF-8DC9-E0B8-0B49-B019297CD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223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AD584-AA9F-8D09-E5FB-D926C72D5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522655"/>
            <a:ext cx="10240903" cy="1233488"/>
          </a:xfrm>
        </p:spPr>
        <p:txBody>
          <a:bodyPr>
            <a:normAutofit fontScale="90000"/>
          </a:bodyPr>
          <a:lstStyle/>
          <a:p>
            <a:r>
              <a:rPr lang="en-US" sz="4000">
                <a:ea typeface="+mj-lt"/>
                <a:cs typeface="+mj-lt"/>
              </a:rPr>
              <a:t>Summary slide with insights gained.</a:t>
            </a:r>
            <a:endParaRPr lang="en-US" sz="400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FB3C9-628A-5EB5-4C6E-F48492E03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sz="1800">
                <a:ea typeface="+mn-lt"/>
                <a:cs typeface="+mn-lt"/>
              </a:rPr>
              <a:t>Visualizing neural networks makes it easier to understand how data moves from inputs to predictions.</a:t>
            </a:r>
            <a:endParaRPr lang="en-US" sz="1800" dirty="0"/>
          </a:p>
          <a:p>
            <a:r>
              <a:rPr lang="en-US" sz="1800">
                <a:ea typeface="+mn-lt"/>
                <a:cs typeface="+mn-lt"/>
              </a:rPr>
              <a:t>Layers, neurons, weights, and activation functions work together to learn patterns in data.</a:t>
            </a:r>
            <a:endParaRPr lang="en-US" sz="1800" dirty="0"/>
          </a:p>
          <a:p>
            <a:r>
              <a:rPr lang="en-US" sz="1800">
                <a:ea typeface="+mn-lt"/>
                <a:cs typeface="+mn-lt"/>
              </a:rPr>
              <a:t>Loss functions and optimization algorithms improve model performance by reducing prediction error over time.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TensorFlow Playground showed that simple models can solve simple problems, but more complex data often needs additional hidden layers and neurons.</a:t>
            </a:r>
            <a:endParaRPr lang="en-US" sz="1800" dirty="0"/>
          </a:p>
          <a:p>
            <a:r>
              <a:rPr lang="en-US" sz="1800">
                <a:ea typeface="+mn-lt"/>
                <a:cs typeface="+mn-lt"/>
              </a:rPr>
              <a:t>The exercise helped me see how network structure, feature selection, and model complexity affect training behavior and results.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BF294-4A3B-CAA3-1604-5FAF0073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F739A-B1F9-47E0-B309-E8A720BF04FE}" type="datetime1"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F8C00-07A4-A012-3AB0-E330DFB7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617D4-AFB7-50C1-7272-D11D4CA1D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507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EEFB9-9D3E-3E28-FF49-468F5E6C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961" y="2191966"/>
            <a:ext cx="9982199" cy="1233488"/>
          </a:xfrm>
        </p:spPr>
        <p:txBody>
          <a:bodyPr/>
          <a:lstStyle/>
          <a:p>
            <a:r>
              <a:rPr lang="en-US"/>
              <a:t>THANKYOU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22480-8852-192E-E6DF-11898438B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B29F-23C7-434B-9A82-03BF62B2689C}" type="datetime1"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FF9F4-8CF8-2A03-1DBA-9EDF03378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4D017-7F93-094C-29E9-66E35ADCD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62054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GradientRiseVTI</vt:lpstr>
      <vt:lpstr>Neural Network Components and Data Flow</vt:lpstr>
      <vt:lpstr>Neural network flowchart</vt:lpstr>
      <vt:lpstr>Neural network flowchart </vt:lpstr>
      <vt:lpstr>Layers and neurons </vt:lpstr>
      <vt:lpstr>Weights and activation functions</vt:lpstr>
      <vt:lpstr>Loss functions and optimization algorithms</vt:lpstr>
      <vt:lpstr>TensorFlow Playground example 1: simple model</vt:lpstr>
      <vt:lpstr>TensorFlow Playground example 2: medium complexity</vt:lpstr>
      <vt:lpstr> TensorFlow Playground example 3: deeper network.  </vt:lpstr>
      <vt:lpstr>Summary slide with insights gained.  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104</cp:revision>
  <dcterms:created xsi:type="dcterms:W3CDTF">2026-05-27T23:46:54Z</dcterms:created>
  <dcterms:modified xsi:type="dcterms:W3CDTF">2026-05-28T00:17:35Z</dcterms:modified>
</cp:coreProperties>
</file>